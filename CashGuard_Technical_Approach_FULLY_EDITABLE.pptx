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90192" y="124557"/>
            <a:ext cx="4982307" cy="402980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3800" b="1" i="0">
                <a:solidFill>
                  <a:srgbClr val="050505"/>
                </a:solidFill>
                <a:latin typeface="Arial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1249" y="600807"/>
            <a:ext cx="7400192" cy="249115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800" b="0" i="0">
                <a:solidFill>
                  <a:srgbClr val="EF315D"/>
                </a:solidFill>
                <a:latin typeface="Arial"/>
              </a:rPr>
              <a:t>CashGuard – Predictive Cash-Flow &amp; Accounts Receivable Intelligence for MSMEs</a:t>
            </a:r>
          </a:p>
        </p:txBody>
      </p:sp>
      <p:pic>
        <p:nvPicPr>
          <p:cNvPr id="4" name="Picture 3" descr="cashguard_icon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42" y="117230"/>
            <a:ext cx="761999" cy="761999"/>
          </a:xfrm>
          <a:prstGeom prst="rect">
            <a:avLst/>
          </a:prstGeom>
        </p:spPr>
      </p:pic>
      <p:pic>
        <p:nvPicPr>
          <p:cNvPr id="5" name="Picture 4" descr="cashguard_icon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365" y="175846"/>
            <a:ext cx="461596" cy="461596"/>
          </a:xfrm>
          <a:prstGeom prst="rect">
            <a:avLst/>
          </a:prstGeom>
        </p:spPr>
      </p:pic>
      <p:pic>
        <p:nvPicPr>
          <p:cNvPr id="6" name="Picture 5" descr="cashguard_icon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1865" y="14653"/>
            <a:ext cx="1370134" cy="805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7038" y="1135673"/>
            <a:ext cx="2271346" cy="21980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Arial"/>
              </a:rPr>
              <a:t>Technologies to be Used: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7115" y="1135673"/>
            <a:ext cx="2857499" cy="21980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Arial"/>
              </a:rPr>
              <a:t>System Architecture / Process Flow: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92" y="1377461"/>
            <a:ext cx="1831730" cy="21980"/>
          </a:xfrm>
          <a:prstGeom prst="rect">
            <a:avLst/>
          </a:prstGeom>
          <a:solidFill>
            <a:srgbClr val="EF3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7115" y="1377461"/>
            <a:ext cx="1831730" cy="21980"/>
          </a:xfrm>
          <a:prstGeom prst="rect">
            <a:avLst/>
          </a:prstGeom>
          <a:solidFill>
            <a:srgbClr val="EF3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692" y="1465384"/>
            <a:ext cx="2703634" cy="520211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shguard_icon_tec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11" y="1553307"/>
            <a:ext cx="490903" cy="3370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8346" y="1531326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8346" y="1692519"/>
            <a:ext cx="1648557" cy="271096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React.js, Next.js (Web),
Flutter (Mobile), TailwindCSS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692" y="2051538"/>
            <a:ext cx="2703634" cy="490903"/>
          </a:xfrm>
          <a:prstGeom prst="roundRect">
            <a:avLst/>
          </a:prstGeom>
          <a:solidFill>
            <a:srgbClr val="E5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shguard_icon_tech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11" y="2139461"/>
            <a:ext cx="490903" cy="3370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8346" y="2117480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8346" y="2278673"/>
            <a:ext cx="1648557" cy="241788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Node.js, FastAPI (Microservices)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692" y="2623038"/>
            <a:ext cx="2703634" cy="490903"/>
          </a:xfrm>
          <a:prstGeom prst="roundRect">
            <a:avLst/>
          </a:prstGeom>
          <a:solidFill>
            <a:srgbClr val="E7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shguard_icon_tech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11" y="2710961"/>
            <a:ext cx="490903" cy="3370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8346" y="2688980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Databases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8346" y="2850173"/>
            <a:ext cx="1648557" cy="241788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PostgreSQL, MongoDB, Redis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692" y="3194538"/>
            <a:ext cx="2703634" cy="520211"/>
          </a:xfrm>
          <a:prstGeom prst="roundRect">
            <a:avLst/>
          </a:prstGeom>
          <a:solidFill>
            <a:srgbClr val="E7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ashguard_icon_tech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211" y="3282461"/>
            <a:ext cx="490903" cy="3370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28346" y="3260480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AI /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8346" y="3421672"/>
            <a:ext cx="1648557" cy="271096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Python (scikit-survival, XGBoost),
NumPy, Pandas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1692" y="3780692"/>
            <a:ext cx="2703634" cy="512884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ashguard_icon_tech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211" y="3868615"/>
            <a:ext cx="490903" cy="3370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8346" y="3846634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8346" y="4007826"/>
            <a:ext cx="1648557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Google OR-Tools
(Action Optimization)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1692" y="4366846"/>
            <a:ext cx="2703634" cy="520211"/>
          </a:xfrm>
          <a:prstGeom prst="roundRect">
            <a:avLst/>
          </a:prstGeom>
          <a:solidFill>
            <a:srgbClr val="E7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ashguard_icon_tech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211" y="4454769"/>
            <a:ext cx="490903" cy="3370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8346" y="4432788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Communication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346" y="4593980"/>
            <a:ext cx="1648557" cy="271096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WhatsApp Business API /
Twilio (SMS)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1692" y="4952999"/>
            <a:ext cx="2703634" cy="586153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shguard_icon_tech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211" y="5040922"/>
            <a:ext cx="490903" cy="33703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28346" y="5018942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Cloud / DevOps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8346" y="5180134"/>
            <a:ext cx="1648557" cy="337038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AWS / GCP, Docker, Kubernetes,
GitHub 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1692" y="5619749"/>
            <a:ext cx="2703634" cy="505557"/>
          </a:xfrm>
          <a:prstGeom prst="roundRect">
            <a:avLst/>
          </a:prstGeom>
          <a:solidFill>
            <a:srgbClr val="E9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ashguard_icon_tech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211" y="5707672"/>
            <a:ext cx="490903" cy="33703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8346" y="5685692"/>
            <a:ext cx="1611923" cy="175846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UI/UX &amp;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8346" y="5846884"/>
            <a:ext cx="1648557" cy="256442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Figma, Metabase / Grafana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11769" y="1465384"/>
            <a:ext cx="1348153" cy="2725615"/>
          </a:xfrm>
          <a:prstGeom prst="roundRect">
            <a:avLst/>
          </a:prstGeom>
          <a:solidFill>
            <a:srgbClr val="F9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5038" y="1560634"/>
            <a:ext cx="1201615" cy="31505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Data Sources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499" y="1465384"/>
            <a:ext cx="1545980" cy="2725615"/>
          </a:xfrm>
          <a:prstGeom prst="roundRect">
            <a:avLst/>
          </a:prstGeom>
          <a:solidFill>
            <a:srgbClr val="DC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5769" y="1560634"/>
            <a:ext cx="1399442" cy="31505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Data Processing
&amp; Feature Engineering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2442" y="1465384"/>
            <a:ext cx="1904999" cy="2725615"/>
          </a:xfrm>
          <a:prstGeom prst="roundRect">
            <a:avLst/>
          </a:prstGeom>
          <a:solidFill>
            <a:srgbClr val="E0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5711" y="1560634"/>
            <a:ext cx="1758461" cy="31505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Predictive &amp; Simulation Engine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2692" y="1465384"/>
            <a:ext cx="1861038" cy="2725615"/>
          </a:xfrm>
          <a:prstGeom prst="roundRect">
            <a:avLst/>
          </a:prstGeom>
          <a:solidFill>
            <a:srgbClr val="F8E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5961" y="1560634"/>
            <a:ext cx="1714499" cy="31505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Action Optimization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38288" y="1465384"/>
            <a:ext cx="1575288" cy="2725615"/>
          </a:xfrm>
          <a:prstGeom prst="roundRect">
            <a:avLst/>
          </a:prstGeom>
          <a:solidFill>
            <a:srgbClr val="E9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11557" y="1560634"/>
            <a:ext cx="1428749" cy="31505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User Interfaces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85038" y="1787769"/>
            <a:ext cx="1201615" cy="307730"/>
          </a:xfrm>
          <a:prstGeom prst="roundRect">
            <a:avLst/>
          </a:prstGeom>
          <a:solidFill>
            <a:srgbClr val="F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cashguard_icon_source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2961" y="1846384"/>
            <a:ext cx="249115" cy="19782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766038" y="1817076"/>
            <a:ext cx="754673" cy="249115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Sales Invoices
(AR)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85038" y="2139461"/>
            <a:ext cx="1201615" cy="307730"/>
          </a:xfrm>
          <a:prstGeom prst="roundRect">
            <a:avLst/>
          </a:prstGeom>
          <a:solidFill>
            <a:srgbClr val="F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ashguard_icon_source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2961" y="2198076"/>
            <a:ext cx="249115" cy="1978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766038" y="2168769"/>
            <a:ext cx="754673" cy="249115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Purchase Bills
(AP)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85038" y="2491153"/>
            <a:ext cx="1201615" cy="307730"/>
          </a:xfrm>
          <a:prstGeom prst="roundRect">
            <a:avLst/>
          </a:prstGeom>
          <a:solidFill>
            <a:srgbClr val="F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ashguard_icon_source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2961" y="2549769"/>
            <a:ext cx="249115" cy="19782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766038" y="2520461"/>
            <a:ext cx="754673" cy="249115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Bank Statements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85038" y="2842846"/>
            <a:ext cx="1201615" cy="307730"/>
          </a:xfrm>
          <a:prstGeom prst="roundRect">
            <a:avLst/>
          </a:prstGeom>
          <a:solidFill>
            <a:srgbClr val="F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ashguard_icon_source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2961" y="2901461"/>
            <a:ext cx="249115" cy="19782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766038" y="2872153"/>
            <a:ext cx="754673" cy="249115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Accounting Tools
(Tally, Zoho, etc.)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85038" y="3194538"/>
            <a:ext cx="1201615" cy="307730"/>
          </a:xfrm>
          <a:prstGeom prst="roundRect">
            <a:avLst/>
          </a:prstGeom>
          <a:solidFill>
            <a:srgbClr val="F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ashguard_icon_source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2961" y="3253153"/>
            <a:ext cx="249115" cy="19782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766038" y="3223846"/>
            <a:ext cx="754673" cy="249115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Manual Upload
(Excel / CSV)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70384" y="3949211"/>
            <a:ext cx="1216269" cy="131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Arial"/>
              </a:rPr>
              <a:t>Structured + Unstructured Data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50422" y="1795096"/>
            <a:ext cx="1377461" cy="322384"/>
          </a:xfrm>
          <a:prstGeom prst="round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cashguard_icon_proc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2999" y="1846384"/>
            <a:ext cx="285749" cy="219807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275384" y="1817076"/>
            <a:ext cx="871903" cy="27842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Data Cleaning
&amp; Normalization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50422" y="2161442"/>
            <a:ext cx="1377461" cy="322384"/>
          </a:xfrm>
          <a:prstGeom prst="round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cashguard_icon_proc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2999" y="2212730"/>
            <a:ext cx="285749" cy="2198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275384" y="2183423"/>
            <a:ext cx="871903" cy="27842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Entity Extraction
(Payees, Customers, Dates,
Amounts)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50422" y="2527788"/>
            <a:ext cx="1377461" cy="322384"/>
          </a:xfrm>
          <a:prstGeom prst="round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cashguard_icon_proc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52999" y="2579076"/>
            <a:ext cx="285749" cy="21980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275384" y="2549769"/>
            <a:ext cx="871903" cy="27842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Feature Engineering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50422" y="2894134"/>
            <a:ext cx="1377461" cy="322384"/>
          </a:xfrm>
          <a:prstGeom prst="round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cashguard_icon_proc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52999" y="2945423"/>
            <a:ext cx="285749" cy="219807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275384" y="2916115"/>
            <a:ext cx="871903" cy="27842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Historical Behaviour
Aggregation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850422" y="3260480"/>
            <a:ext cx="1377461" cy="322384"/>
          </a:xfrm>
          <a:prstGeom prst="round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cashguard_icon_proc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52999" y="3311769"/>
            <a:ext cx="285749" cy="21980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275384" y="3282461"/>
            <a:ext cx="871903" cy="27842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Customer &amp; Vendor
Segmentation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40365" y="1795096"/>
            <a:ext cx="1729153" cy="498230"/>
          </a:xfrm>
          <a:prstGeom prst="roundRect">
            <a:avLst/>
          </a:prstGeom>
          <a:solidFill>
            <a:srgbClr val="EE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ashguard_icon_pred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0269" y="1912326"/>
            <a:ext cx="315057" cy="22713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894634" y="1831730"/>
            <a:ext cx="1157653" cy="19049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Payment Probability Model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94634" y="2014903"/>
            <a:ext cx="1157653" cy="2271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(scikit-survival / XGBoost)
Per-invoice risk of delay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40365" y="2351942"/>
            <a:ext cx="1729153" cy="498230"/>
          </a:xfrm>
          <a:prstGeom prst="roundRect">
            <a:avLst/>
          </a:prstGeom>
          <a:solidFill>
            <a:srgbClr val="EE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cashguard_icon_pred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0269" y="2469173"/>
            <a:ext cx="315057" cy="227134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894634" y="2388576"/>
            <a:ext cx="1157653" cy="19049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Monte Carlo Cash-Flow
Simulation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94634" y="2571749"/>
            <a:ext cx="1157653" cy="2271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Forecast future cash position
with confidence bands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40365" y="2908788"/>
            <a:ext cx="1729153" cy="498230"/>
          </a:xfrm>
          <a:prstGeom prst="roundRect">
            <a:avLst/>
          </a:prstGeom>
          <a:solidFill>
            <a:srgbClr val="EE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cashguard_icon_pred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0269" y="3026019"/>
            <a:ext cx="315057" cy="227134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894634" y="2945423"/>
            <a:ext cx="1157653" cy="19049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Shortfall Detection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94634" y="3128596"/>
            <a:ext cx="1157653" cy="2271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Identify when cash will run short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440615" y="1795096"/>
            <a:ext cx="1677865" cy="490903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cashguard_icon_act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50519" y="1897673"/>
            <a:ext cx="315057" cy="22713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880230" y="1831730"/>
            <a:ext cx="1113692" cy="18317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Recommend Next Best Action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80230" y="2007576"/>
            <a:ext cx="1113692" cy="256442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(Value × Probability × Urgency)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440615" y="2359269"/>
            <a:ext cx="1677865" cy="600807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cashguard_icon_act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50519" y="2461846"/>
            <a:ext cx="315057" cy="22713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880230" y="2395903"/>
            <a:ext cx="1113692" cy="18317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Options: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80230" y="2571749"/>
            <a:ext cx="1113692" cy="366346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• Chase invoice (AR)
• Delay payment (AP)
• Draw pre-qualified credit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40615" y="3033346"/>
            <a:ext cx="1677865" cy="490903"/>
          </a:xfrm>
          <a:prstGeom prst="roundRect">
            <a:avLst/>
          </a:prstGeom>
          <a:solidFill>
            <a:srgbClr val="FF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cashguard_icon_act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0519" y="3135922"/>
            <a:ext cx="315057" cy="227134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880230" y="3069980"/>
            <a:ext cx="1113692" cy="183173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Generate Draft Message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80230" y="3245826"/>
            <a:ext cx="1113692" cy="256442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Arial"/>
              </a:rPr>
              <a:t>(WhatsApp / Email / SMS)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433538" y="1795096"/>
            <a:ext cx="1377461" cy="395653"/>
          </a:xfrm>
          <a:prstGeom prst="roundRect">
            <a:avLst/>
          </a:prstGeom>
          <a:solidFill>
            <a:srgbClr val="F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cashguard_icon_ui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28788" y="1868365"/>
            <a:ext cx="293076" cy="24178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858499" y="1824403"/>
            <a:ext cx="871903" cy="16119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Mobile App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58499" y="1985596"/>
            <a:ext cx="871903" cy="131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819" b="0" i="0">
                <a:solidFill>
                  <a:srgbClr val="111111"/>
                </a:solidFill>
                <a:latin typeface="Arial"/>
              </a:rPr>
              <a:t>(MSME Owner)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433538" y="2278673"/>
            <a:ext cx="1377461" cy="395653"/>
          </a:xfrm>
          <a:prstGeom prst="roundRect">
            <a:avLst/>
          </a:prstGeom>
          <a:solidFill>
            <a:srgbClr val="F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cashguard_icon_ui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28788" y="2351942"/>
            <a:ext cx="293076" cy="24178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0858499" y="2307980"/>
            <a:ext cx="871903" cy="16119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Web Dashboard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858499" y="2469173"/>
            <a:ext cx="871903" cy="131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819" b="0" i="0">
                <a:solidFill>
                  <a:srgbClr val="111111"/>
                </a:solidFill>
                <a:latin typeface="Arial"/>
              </a:rPr>
              <a:t>(Detailed View)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433538" y="2762249"/>
            <a:ext cx="1377461" cy="395653"/>
          </a:xfrm>
          <a:prstGeom prst="roundRect">
            <a:avLst/>
          </a:prstGeom>
          <a:solidFill>
            <a:srgbClr val="F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cashguard_icon_ui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28788" y="2835519"/>
            <a:ext cx="293076" cy="241788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0858499" y="2791557"/>
            <a:ext cx="871903" cy="16119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WhatsApp Bot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858499" y="2952749"/>
            <a:ext cx="871903" cy="131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819" b="0" i="0">
                <a:solidFill>
                  <a:srgbClr val="111111"/>
                </a:solidFill>
                <a:latin typeface="Arial"/>
              </a:rPr>
              <a:t>(Quick Add &amp; Alerts)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433538" y="3245826"/>
            <a:ext cx="1377461" cy="395653"/>
          </a:xfrm>
          <a:prstGeom prst="roundRect">
            <a:avLst/>
          </a:prstGeom>
          <a:solidFill>
            <a:srgbClr val="F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cashguard_icon_ui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28788" y="3319096"/>
            <a:ext cx="293076" cy="24178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0858499" y="3275134"/>
            <a:ext cx="871903" cy="16119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  <a:latin typeface="Arial"/>
              </a:rPr>
              <a:t>Trusted Sharing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58499" y="3436326"/>
            <a:ext cx="871903" cy="131884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819" b="0" i="0">
                <a:solidFill>
                  <a:srgbClr val="111111"/>
                </a:solidFill>
                <a:latin typeface="Arial"/>
              </a:rPr>
              <a:t>(Owner / Accountant)</a:t>
            </a:r>
          </a:p>
        </p:txBody>
      </p:sp>
      <p:sp>
        <p:nvSpPr>
          <p:cNvPr id="124" name="Right Arrow 123"/>
          <p:cNvSpPr/>
          <p:nvPr/>
        </p:nvSpPr>
        <p:spPr>
          <a:xfrm>
            <a:off x="4615961" y="2491153"/>
            <a:ext cx="249115" cy="117230"/>
          </a:xfrm>
          <a:prstGeom prst="right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ight Arrow 124"/>
          <p:cNvSpPr/>
          <p:nvPr/>
        </p:nvSpPr>
        <p:spPr>
          <a:xfrm>
            <a:off x="6286499" y="2491153"/>
            <a:ext cx="249115" cy="117230"/>
          </a:xfrm>
          <a:prstGeom prst="right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ight Arrow 125"/>
          <p:cNvSpPr/>
          <p:nvPr/>
        </p:nvSpPr>
        <p:spPr>
          <a:xfrm>
            <a:off x="8228134" y="2491153"/>
            <a:ext cx="249115" cy="117230"/>
          </a:xfrm>
          <a:prstGeom prst="right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ight Arrow 126"/>
          <p:cNvSpPr/>
          <p:nvPr/>
        </p:nvSpPr>
        <p:spPr>
          <a:xfrm>
            <a:off x="10184422" y="2491153"/>
            <a:ext cx="219807" cy="117230"/>
          </a:xfrm>
          <a:prstGeom prst="right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777153" y="4366846"/>
            <a:ext cx="6095999" cy="637442"/>
          </a:xfrm>
          <a:prstGeom prst="roundRect">
            <a:avLst/>
          </a:prstGeom>
          <a:solidFill>
            <a:srgbClr val="F7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65480" y="4447442"/>
            <a:ext cx="5312019" cy="190499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500" b="1" i="0">
                <a:solidFill>
                  <a:srgbClr val="111111"/>
                </a:solidFill>
                <a:latin typeface="Arial"/>
              </a:rPr>
              <a:t>Continuous Learning &amp; Model Improvement</a:t>
            </a:r>
          </a:p>
        </p:txBody>
      </p:sp>
      <p:pic>
        <p:nvPicPr>
          <p:cNvPr id="130" name="Picture 129" descr="cashguard_icon_learn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36172" y="4601307"/>
            <a:ext cx="278423" cy="293076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5480538" y="4623288"/>
            <a:ext cx="1685192" cy="2051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Ingest Actual Payment Outcomes</a:t>
            </a:r>
          </a:p>
        </p:txBody>
      </p:sp>
      <p:pic>
        <p:nvPicPr>
          <p:cNvPr id="132" name="Picture 131" descr="cashguard_icon_learn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36422" y="4601307"/>
            <a:ext cx="278423" cy="293076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7473461" y="4623288"/>
            <a:ext cx="1502019" cy="2051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Retrain Models Periodically</a:t>
            </a:r>
          </a:p>
        </p:txBody>
      </p:sp>
      <p:pic>
        <p:nvPicPr>
          <p:cNvPr id="134" name="Picture 133" descr="cashguard_icon_learn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019442" y="4593980"/>
            <a:ext cx="307730" cy="30773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400442" y="4623288"/>
            <a:ext cx="1465384" cy="205153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Improve Recommendations</a:t>
            </a:r>
          </a:p>
        </p:txBody>
      </p:sp>
      <p:cxnSp>
        <p:nvCxnSpPr>
          <p:cNvPr id="136" name="Connector 135"/>
          <p:cNvCxnSpPr/>
          <p:nvPr/>
        </p:nvCxnSpPr>
        <p:spPr>
          <a:xfrm flipH="1">
            <a:off x="3875942" y="4652596"/>
            <a:ext cx="901211" cy="0"/>
          </a:xfrm>
          <a:prstGeom prst="line">
            <a:avLst/>
          </a:prstGeom>
          <a:ln w="19050">
            <a:solidFill>
              <a:srgbClr val="E9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875942" y="4212980"/>
            <a:ext cx="0" cy="439616"/>
          </a:xfrm>
          <a:prstGeom prst="line">
            <a:avLst/>
          </a:prstGeom>
          <a:ln w="19050">
            <a:solidFill>
              <a:srgbClr val="E9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Down Arrow 137"/>
          <p:cNvSpPr/>
          <p:nvPr/>
        </p:nvSpPr>
        <p:spPr>
          <a:xfrm>
            <a:off x="3766038" y="4161692"/>
            <a:ext cx="219807" cy="131884"/>
          </a:xfrm>
          <a:prstGeom prst="down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0880480" y="4652596"/>
            <a:ext cx="402981" cy="0"/>
          </a:xfrm>
          <a:prstGeom prst="line">
            <a:avLst/>
          </a:prstGeom>
          <a:ln w="19050">
            <a:solidFill>
              <a:srgbClr val="E9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1283461" y="4212980"/>
            <a:ext cx="0" cy="439616"/>
          </a:xfrm>
          <a:prstGeom prst="line">
            <a:avLst/>
          </a:prstGeom>
          <a:ln w="19050">
            <a:solidFill>
              <a:srgbClr val="E92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Up Arrow 140"/>
          <p:cNvSpPr/>
          <p:nvPr/>
        </p:nvSpPr>
        <p:spPr>
          <a:xfrm>
            <a:off x="11173557" y="4161692"/>
            <a:ext cx="219807" cy="131884"/>
          </a:xfrm>
          <a:prstGeom prst="upArrow">
            <a:avLst/>
          </a:prstGeom>
          <a:solidFill>
            <a:srgbClr val="E92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97115" y="5084884"/>
            <a:ext cx="2637692" cy="219807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Arial"/>
              </a:rPr>
              <a:t>Key Features (Technically):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97115" y="5290038"/>
            <a:ext cx="8645769" cy="14653"/>
          </a:xfrm>
          <a:prstGeom prst="rect">
            <a:avLst/>
          </a:prstGeom>
          <a:solidFill>
            <a:srgbClr val="EF3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297115" y="5414596"/>
            <a:ext cx="1560634" cy="798634"/>
          </a:xfrm>
          <a:prstGeom prst="roundRect">
            <a:avLst/>
          </a:prstGeom>
          <a:solidFill>
            <a:srgbClr val="E2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cashguard_icon_feature0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21672" y="5531826"/>
            <a:ext cx="307730" cy="30773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3773365" y="5480538"/>
            <a:ext cx="1011115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Per-Invoice
Risk Prediction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773365" y="5758961"/>
            <a:ext cx="1011115" cy="4176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10" b="0" i="0">
                <a:solidFill>
                  <a:srgbClr val="111111"/>
                </a:solidFill>
                <a:latin typeface="Arial"/>
              </a:rPr>
              <a:t>Probability curves, not just
late/on-time labels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894384" y="5414596"/>
            <a:ext cx="1560634" cy="798634"/>
          </a:xfrm>
          <a:prstGeom prst="roundRect">
            <a:avLst/>
          </a:prstGeom>
          <a:solidFill>
            <a:srgbClr val="DD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cashguard_icon_feature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018942" y="5531826"/>
            <a:ext cx="307730" cy="30773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5370634" y="5480538"/>
            <a:ext cx="1011115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Monte Carlo
Cash-Flow Forecast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70634" y="5758961"/>
            <a:ext cx="1011115" cy="4176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10" b="0" i="0">
                <a:solidFill>
                  <a:srgbClr val="111111"/>
                </a:solidFill>
                <a:latin typeface="Arial"/>
              </a:rPr>
              <a:t>Confidence bands,
not a single number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513634" y="5414596"/>
            <a:ext cx="1714499" cy="798634"/>
          </a:xfrm>
          <a:prstGeom prst="roundRect">
            <a:avLst/>
          </a:prstGeom>
          <a:solidFill>
            <a:srgbClr val="F7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cashguard_icon_feature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638192" y="5531826"/>
            <a:ext cx="307730" cy="30773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6989884" y="5480538"/>
            <a:ext cx="1164980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Optimized Action Engine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89884" y="5758961"/>
            <a:ext cx="1164980" cy="4176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10" b="0" i="0">
                <a:solidFill>
                  <a:srgbClr val="111111"/>
                </a:solidFill>
                <a:latin typeface="Arial"/>
              </a:rPr>
              <a:t>Ranks actions to close
the cash gap with constraints
(e.g., payment terms, credit limits)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345365" y="5414596"/>
            <a:ext cx="1685192" cy="798634"/>
          </a:xfrm>
          <a:prstGeom prst="roundRect">
            <a:avLst/>
          </a:prstGeom>
          <a:solidFill>
            <a:srgbClr val="F8E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cashguard_icon_feature3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469922" y="5531826"/>
            <a:ext cx="307730" cy="30773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821615" y="5480538"/>
            <a:ext cx="1135673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Automated Outreach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821615" y="5758961"/>
            <a:ext cx="1135673" cy="4176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10" b="0" i="0">
                <a:solidFill>
                  <a:srgbClr val="111111"/>
                </a:solidFill>
                <a:latin typeface="Arial"/>
              </a:rPr>
              <a:t>Pre-filled, personalized
WhatsApp/SMS/Email
drafts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140461" y="5414596"/>
            <a:ext cx="1729153" cy="798634"/>
          </a:xfrm>
          <a:prstGeom prst="roundRect">
            <a:avLst/>
          </a:prstGeom>
          <a:solidFill>
            <a:srgbClr val="E9E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ashguard_icon_feature4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265018" y="5531826"/>
            <a:ext cx="307730" cy="30773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0616711" y="5480538"/>
            <a:ext cx="1179634" cy="263769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1000" b="1" i="0">
                <a:solidFill>
                  <a:srgbClr val="111111"/>
                </a:solidFill>
                <a:latin typeface="Arial"/>
              </a:rPr>
              <a:t>Explainability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616711" y="5758961"/>
            <a:ext cx="1179634" cy="417634"/>
          </a:xfrm>
          <a:prstGeom prst="rect">
            <a:avLst/>
          </a:prstGeom>
          <a:noFill/>
        </p:spPr>
        <p:txBody>
          <a:bodyPr wrap="none" lIns="9144" rIns="9144" tIns="4572" bIns="4572" anchor="t">
            <a:spAutoFit/>
          </a:bodyPr>
          <a:lstStyle/>
          <a:p>
            <a:pPr algn="l"/>
            <a:r>
              <a:rPr sz="810" b="0" i="0">
                <a:solidFill>
                  <a:srgbClr val="111111"/>
                </a:solidFill>
                <a:latin typeface="Arial"/>
              </a:rPr>
              <a:t>Why a risk flag? Transparent
reasons and key factors for
every recommendation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0" y="6550269"/>
            <a:ext cx="12191999" cy="315057"/>
          </a:xfrm>
          <a:prstGeom prst="rect">
            <a:avLst/>
          </a:prstGeom>
          <a:solidFill>
            <a:srgbClr val="E6D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560884" y="6645519"/>
            <a:ext cx="1282211" cy="168519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800" b="1" i="0">
                <a:solidFill>
                  <a:srgbClr val="111111"/>
                </a:solidFill>
                <a:latin typeface="Arial"/>
              </a:rPr>
              <a:t>CRAFTVERSE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65076" y="6645519"/>
            <a:ext cx="3150576" cy="161192"/>
          </a:xfrm>
          <a:prstGeom prst="rect">
            <a:avLst/>
          </a:prstGeom>
          <a:noFill/>
        </p:spPr>
        <p:txBody>
          <a:bodyPr wrap="none" lIns="9144" rIns="9144" tIns="4572" bIns="4572" anchor="ctr">
            <a:spAutoFit/>
          </a:bodyPr>
          <a:lstStyle/>
          <a:p>
            <a:pPr algn="ctr"/>
            <a:r>
              <a:rPr sz="1200" b="0" i="0">
                <a:solidFill>
                  <a:srgbClr val="111111"/>
                </a:solidFill>
                <a:latin typeface="Arial"/>
              </a:rPr>
              <a:t>—  A NATIONAL LEVEL HACKATHON</a:t>
            </a:r>
          </a:p>
        </p:txBody>
      </p:sp>
      <p:sp>
        <p:nvSpPr>
          <p:cNvPr id="167" name="Oval 166"/>
          <p:cNvSpPr/>
          <p:nvPr/>
        </p:nvSpPr>
        <p:spPr>
          <a:xfrm>
            <a:off x="117230" y="5268057"/>
            <a:ext cx="322384" cy="322384"/>
          </a:xfrm>
          <a:prstGeom prst="ellipse">
            <a:avLst/>
          </a:prstGeom>
          <a:noFill/>
          <a:ln w="19050">
            <a:solidFill>
              <a:srgbClr val="EF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Isosceles Triangle 167"/>
          <p:cNvSpPr/>
          <p:nvPr/>
        </p:nvSpPr>
        <p:spPr>
          <a:xfrm>
            <a:off x="117230" y="5722326"/>
            <a:ext cx="315057" cy="315057"/>
          </a:xfrm>
          <a:prstGeom prst="triangle">
            <a:avLst/>
          </a:prstGeom>
          <a:noFill/>
          <a:ln w="19050">
            <a:solidFill>
              <a:srgbClr val="EF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31884" y="6139961"/>
            <a:ext cx="300403" cy="278423"/>
          </a:xfrm>
          <a:prstGeom prst="rect">
            <a:avLst/>
          </a:prstGeom>
          <a:noFill/>
          <a:ln w="19050">
            <a:solidFill>
              <a:srgbClr val="EF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