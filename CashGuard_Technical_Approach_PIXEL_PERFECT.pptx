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499bf95-6e83-49c2-80ec-02e99eb3f4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29000" y="109728"/>
            <a:ext cx="6126480" cy="4389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>
            <a:spAutoFit/>
          </a:bodyPr>
          <a:lstStyle/>
          <a:p>
            <a:pPr algn="ctr"/>
            <a:r>
              <a:rPr sz="2700" b="1">
                <a:solidFill>
                  <a:srgbClr val="050505"/>
                </a:solidFill>
                <a:latin typeface="Arial"/>
              </a:rPr>
              <a:t>TECHNICAL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31720" y="612648"/>
            <a:ext cx="8138160" cy="29260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EF315D"/>
                </a:solidFill>
                <a:latin typeface="Arial"/>
              </a:rPr>
              <a:t>CashGuard – Predictive Cash-Flow &amp; Accounts Receivable Intelligence for MSMEs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8328" y="1124712"/>
            <a:ext cx="2606040" cy="2286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0000"/>
                </a:solidFill>
                <a:latin typeface="Arial"/>
              </a:rPr>
              <a:t>Technologies to be Used: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19272" y="1124712"/>
            <a:ext cx="3017520" cy="2286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0000"/>
                </a:solidFill>
                <a:latin typeface="Arial"/>
              </a:rPr>
              <a:t>System Architecture / Process Flow: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" y="1536192"/>
            <a:ext cx="1600200" cy="173736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>
            <a:spAutoFit/>
          </a:bodyPr>
          <a:lstStyle/>
          <a:p>
            <a:pPr algn="l"/>
            <a:r>
              <a:rPr sz="919" b="1">
                <a:solidFill>
                  <a:srgbClr val="000000"/>
                </a:solidFill>
                <a:latin typeface="Arial"/>
              </a:rPr>
              <a:t>Frontend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" y="1709928"/>
            <a:ext cx="1691640" cy="38404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>
            <a:spAutoFit/>
          </a:bodyPr>
          <a:lstStyle/>
          <a:p>
            <a:pPr algn="l"/>
            <a:r>
              <a:rPr sz="770" b="0">
                <a:solidFill>
                  <a:srgbClr val="000000"/>
                </a:solidFill>
                <a:latin typeface="Arial"/>
              </a:rPr>
              <a:t>React.js, Next.js (Web),
Flutter (Mobile), TailwindCSS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" y="2212848"/>
            <a:ext cx="1600200" cy="173736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>
            <a:spAutoFit/>
          </a:bodyPr>
          <a:lstStyle/>
          <a:p>
            <a:pPr algn="l"/>
            <a:r>
              <a:rPr sz="919" b="1">
                <a:solidFill>
                  <a:srgbClr val="000000"/>
                </a:solidFill>
                <a:latin typeface="Arial"/>
              </a:rPr>
              <a:t>Backend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2386584"/>
            <a:ext cx="1691640" cy="38404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>
            <a:spAutoFit/>
          </a:bodyPr>
          <a:lstStyle/>
          <a:p>
            <a:pPr algn="l"/>
            <a:r>
              <a:rPr sz="770" b="0">
                <a:solidFill>
                  <a:srgbClr val="000000"/>
                </a:solidFill>
                <a:latin typeface="Arial"/>
              </a:rPr>
              <a:t>Node.js, FastAPI (Microservices)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" y="2852928"/>
            <a:ext cx="1600200" cy="173736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>
            <a:spAutoFit/>
          </a:bodyPr>
          <a:lstStyle/>
          <a:p>
            <a:pPr algn="l"/>
            <a:r>
              <a:rPr sz="919" b="1">
                <a:solidFill>
                  <a:srgbClr val="000000"/>
                </a:solidFill>
                <a:latin typeface="Arial"/>
              </a:rPr>
              <a:t>Databases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" y="3026664"/>
            <a:ext cx="1691640" cy="38404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>
            <a:spAutoFit/>
          </a:bodyPr>
          <a:lstStyle/>
          <a:p>
            <a:pPr algn="l"/>
            <a:r>
              <a:rPr sz="770" b="0">
                <a:solidFill>
                  <a:srgbClr val="000000"/>
                </a:solidFill>
                <a:latin typeface="Arial"/>
              </a:rPr>
              <a:t>PostgreSQL, MongoDB, Redis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" y="3493008"/>
            <a:ext cx="1600200" cy="173736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>
            <a:spAutoFit/>
          </a:bodyPr>
          <a:lstStyle/>
          <a:p>
            <a:pPr algn="l"/>
            <a:r>
              <a:rPr sz="919" b="1">
                <a:solidFill>
                  <a:srgbClr val="000000"/>
                </a:solidFill>
                <a:latin typeface="Arial"/>
              </a:rPr>
              <a:t>AI / ML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" y="3666744"/>
            <a:ext cx="1691640" cy="38404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>
            <a:spAutoFit/>
          </a:bodyPr>
          <a:lstStyle/>
          <a:p>
            <a:pPr algn="l"/>
            <a:r>
              <a:rPr sz="770" b="0">
                <a:solidFill>
                  <a:srgbClr val="000000"/>
                </a:solidFill>
                <a:latin typeface="Arial"/>
              </a:rPr>
              <a:t>Python (scikit-survival, XGBoost),
NumPy, Pandas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" y="4169664"/>
            <a:ext cx="1600200" cy="173736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>
            <a:spAutoFit/>
          </a:bodyPr>
          <a:lstStyle/>
          <a:p>
            <a:pPr algn="l"/>
            <a:r>
              <a:rPr sz="919" b="1">
                <a:solidFill>
                  <a:srgbClr val="000000"/>
                </a:solidFill>
                <a:latin typeface="Arial"/>
              </a:rPr>
              <a:t>Optimization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" y="4343400"/>
            <a:ext cx="1691640" cy="38404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>
            <a:spAutoFit/>
          </a:bodyPr>
          <a:lstStyle/>
          <a:p>
            <a:pPr algn="l"/>
            <a:r>
              <a:rPr sz="770" b="0">
                <a:solidFill>
                  <a:srgbClr val="000000"/>
                </a:solidFill>
                <a:latin typeface="Arial"/>
              </a:rPr>
              <a:t>Google OR-Tools
(Action Optimization)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" y="4809744"/>
            <a:ext cx="1600200" cy="173736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>
            <a:spAutoFit/>
          </a:bodyPr>
          <a:lstStyle/>
          <a:p>
            <a:pPr algn="l"/>
            <a:r>
              <a:rPr sz="919" b="1">
                <a:solidFill>
                  <a:srgbClr val="000000"/>
                </a:solidFill>
                <a:latin typeface="Arial"/>
              </a:rPr>
              <a:t>Communication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" y="4983480"/>
            <a:ext cx="1691640" cy="38404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>
            <a:spAutoFit/>
          </a:bodyPr>
          <a:lstStyle/>
          <a:p>
            <a:pPr algn="l"/>
            <a:r>
              <a:rPr sz="770" b="0">
                <a:solidFill>
                  <a:srgbClr val="000000"/>
                </a:solidFill>
                <a:latin typeface="Arial"/>
              </a:rPr>
              <a:t>WhatsApp Business API /
Twilio (SMS)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3856" y="5449824"/>
            <a:ext cx="1600200" cy="173736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>
            <a:spAutoFit/>
          </a:bodyPr>
          <a:lstStyle/>
          <a:p>
            <a:pPr algn="l"/>
            <a:r>
              <a:rPr sz="919" b="1">
                <a:solidFill>
                  <a:srgbClr val="000000"/>
                </a:solidFill>
                <a:latin typeface="Arial"/>
              </a:rPr>
              <a:t>Cloud / DevOps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33856" y="5623560"/>
            <a:ext cx="1691640" cy="38404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>
            <a:spAutoFit/>
          </a:bodyPr>
          <a:lstStyle/>
          <a:p>
            <a:pPr algn="l"/>
            <a:r>
              <a:rPr sz="770" b="0">
                <a:solidFill>
                  <a:srgbClr val="000000"/>
                </a:solidFill>
                <a:latin typeface="Arial"/>
              </a:rPr>
              <a:t>AWS / GCP, Docker, Kubernetes,
GitHub Actions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" y="6126480"/>
            <a:ext cx="1600200" cy="173736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>
            <a:spAutoFit/>
          </a:bodyPr>
          <a:lstStyle/>
          <a:p>
            <a:pPr algn="l"/>
            <a:r>
              <a:rPr sz="919" b="1">
                <a:solidFill>
                  <a:srgbClr val="000000"/>
                </a:solidFill>
                <a:latin typeface="Arial"/>
              </a:rPr>
              <a:t>UI/UX &amp; Analytics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" y="6300216"/>
            <a:ext cx="1691640" cy="38404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>
            <a:spAutoFit/>
          </a:bodyPr>
          <a:lstStyle/>
          <a:p>
            <a:pPr algn="l"/>
            <a:r>
              <a:rPr sz="770" b="0">
                <a:solidFill>
                  <a:srgbClr val="000000"/>
                </a:solidFill>
                <a:latin typeface="Arial"/>
              </a:rPr>
              <a:t>Figma, Metabase / Grafana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01568" y="1572768"/>
            <a:ext cx="1417320" cy="2286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>
            <a:spAutoFit/>
          </a:bodyPr>
          <a:lstStyle/>
          <a:p>
            <a:pPr algn="ctr"/>
            <a:r>
              <a:rPr sz="1019" b="1">
                <a:solidFill>
                  <a:srgbClr val="000000"/>
                </a:solidFill>
                <a:latin typeface="Arial"/>
              </a:rPr>
              <a:t>Data Sources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85615" y="1911095"/>
            <a:ext cx="868680" cy="310896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>
            <a:spAutoFit/>
          </a:bodyPr>
          <a:lstStyle/>
          <a:p>
            <a:pPr algn="l"/>
            <a:r>
              <a:rPr sz="740" b="0">
                <a:solidFill>
                  <a:srgbClr val="000000"/>
                </a:solidFill>
                <a:latin typeface="Arial"/>
              </a:rPr>
              <a:t>Sales Invoices
(AR)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85615" y="2350008"/>
            <a:ext cx="868680" cy="310896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>
            <a:spAutoFit/>
          </a:bodyPr>
          <a:lstStyle/>
          <a:p>
            <a:pPr algn="l"/>
            <a:r>
              <a:rPr sz="740" b="0">
                <a:solidFill>
                  <a:srgbClr val="000000"/>
                </a:solidFill>
                <a:latin typeface="Arial"/>
              </a:rPr>
              <a:t>Purchase Bills
(AP)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85615" y="2788920"/>
            <a:ext cx="868680" cy="310896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>
            <a:spAutoFit/>
          </a:bodyPr>
          <a:lstStyle/>
          <a:p>
            <a:pPr algn="l"/>
            <a:r>
              <a:rPr sz="740" b="0">
                <a:solidFill>
                  <a:srgbClr val="000000"/>
                </a:solidFill>
                <a:latin typeface="Arial"/>
              </a:rPr>
              <a:t>Bank Statements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85615" y="3227832"/>
            <a:ext cx="868680" cy="310896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>
            <a:spAutoFit/>
          </a:bodyPr>
          <a:lstStyle/>
          <a:p>
            <a:pPr algn="l"/>
            <a:r>
              <a:rPr sz="740" b="0">
                <a:solidFill>
                  <a:srgbClr val="000000"/>
                </a:solidFill>
                <a:latin typeface="Arial"/>
              </a:rPr>
              <a:t>Accounting Tools
(Tally, Zoho, etc.)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85615" y="3666744"/>
            <a:ext cx="868680" cy="310896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>
            <a:spAutoFit/>
          </a:bodyPr>
          <a:lstStyle/>
          <a:p>
            <a:pPr algn="l"/>
            <a:r>
              <a:rPr sz="740" b="0">
                <a:solidFill>
                  <a:srgbClr val="000000"/>
                </a:solidFill>
                <a:latin typeface="Arial"/>
              </a:rPr>
              <a:t>Manual Upload
(Excel / CSV)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83280" y="4096512"/>
            <a:ext cx="1554480" cy="13716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>
            <a:spAutoFit/>
          </a:bodyPr>
          <a:lstStyle/>
          <a:p>
            <a:pPr algn="ctr"/>
            <a:r>
              <a:rPr sz="680" b="0">
                <a:solidFill>
                  <a:srgbClr val="555555"/>
                </a:solidFill>
                <a:latin typeface="Arial"/>
              </a:rPr>
              <a:t>Structured + Unstructured Data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54880" y="1572768"/>
            <a:ext cx="1572768" cy="329184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>
            <a:spAutoFit/>
          </a:bodyPr>
          <a:lstStyle/>
          <a:p>
            <a:pPr algn="ctr"/>
            <a:r>
              <a:rPr sz="1019" b="1">
                <a:solidFill>
                  <a:srgbClr val="000000"/>
                </a:solidFill>
                <a:latin typeface="Arial"/>
              </a:rPr>
              <a:t>Data Processing
&amp; Feature Engineering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12080" y="1911095"/>
            <a:ext cx="896112" cy="36576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>
            <a:spAutoFit/>
          </a:bodyPr>
          <a:lstStyle/>
          <a:p>
            <a:pPr algn="l"/>
            <a:r>
              <a:rPr sz="680" b="0">
                <a:solidFill>
                  <a:srgbClr val="000000"/>
                </a:solidFill>
                <a:latin typeface="Arial"/>
              </a:rPr>
              <a:t>Data Cleaning
&amp; Normalization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80" y="2331720"/>
            <a:ext cx="896112" cy="36576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>
            <a:spAutoFit/>
          </a:bodyPr>
          <a:lstStyle/>
          <a:p>
            <a:pPr algn="l"/>
            <a:r>
              <a:rPr sz="680" b="0">
                <a:solidFill>
                  <a:srgbClr val="000000"/>
                </a:solidFill>
                <a:latin typeface="Arial"/>
              </a:rPr>
              <a:t>Entity Extraction
(Payees, Customers, Dates,
Amounts)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12080" y="2770632"/>
            <a:ext cx="896112" cy="36576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>
            <a:spAutoFit/>
          </a:bodyPr>
          <a:lstStyle/>
          <a:p>
            <a:pPr algn="l"/>
            <a:r>
              <a:rPr sz="680" b="0">
                <a:solidFill>
                  <a:srgbClr val="000000"/>
                </a:solidFill>
                <a:latin typeface="Arial"/>
              </a:rPr>
              <a:t>Feature Engineering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12080" y="3209544"/>
            <a:ext cx="896112" cy="36576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>
            <a:spAutoFit/>
          </a:bodyPr>
          <a:lstStyle/>
          <a:p>
            <a:pPr algn="l"/>
            <a:r>
              <a:rPr sz="680" b="0">
                <a:solidFill>
                  <a:srgbClr val="000000"/>
                </a:solidFill>
                <a:latin typeface="Arial"/>
              </a:rPr>
              <a:t>Historical Behaviour
Aggregation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212080" y="3648456"/>
            <a:ext cx="896112" cy="36576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>
            <a:spAutoFit/>
          </a:bodyPr>
          <a:lstStyle/>
          <a:p>
            <a:pPr algn="l"/>
            <a:r>
              <a:rPr sz="680" b="0">
                <a:solidFill>
                  <a:srgbClr val="000000"/>
                </a:solidFill>
                <a:latin typeface="Arial"/>
              </a:rPr>
              <a:t>Customer &amp; Vendor
Segmentation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1572768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>
            <a:spAutoFit/>
          </a:bodyPr>
          <a:lstStyle/>
          <a:p>
            <a:pPr algn="ctr"/>
            <a:r>
              <a:rPr sz="1019" b="1">
                <a:solidFill>
                  <a:srgbClr val="000000"/>
                </a:solidFill>
                <a:latin typeface="Arial"/>
              </a:rPr>
              <a:t>Predictive &amp; Simulation Engine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03720" y="1901952"/>
            <a:ext cx="1143000" cy="25603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>
            <a:spAutoFit/>
          </a:bodyPr>
          <a:lstStyle/>
          <a:p>
            <a:pPr algn="l"/>
            <a:r>
              <a:rPr sz="700" b="1">
                <a:solidFill>
                  <a:srgbClr val="000000"/>
                </a:solidFill>
                <a:latin typeface="Arial"/>
              </a:rPr>
              <a:t>Payment Probability Model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03720" y="2148840"/>
            <a:ext cx="1143000" cy="29260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>
            <a:spAutoFit/>
          </a:bodyPr>
          <a:lstStyle/>
          <a:p>
            <a:pPr algn="l"/>
            <a:r>
              <a:rPr sz="640" b="0">
                <a:solidFill>
                  <a:srgbClr val="000000"/>
                </a:solidFill>
                <a:latin typeface="Arial"/>
              </a:rPr>
              <a:t>(scikit-survival / XGBoost)
Per-invoice risk of delay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03720" y="2596896"/>
            <a:ext cx="1143000" cy="25603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>
            <a:spAutoFit/>
          </a:bodyPr>
          <a:lstStyle/>
          <a:p>
            <a:pPr algn="l"/>
            <a:r>
              <a:rPr sz="700" b="1">
                <a:solidFill>
                  <a:srgbClr val="000000"/>
                </a:solidFill>
                <a:latin typeface="Arial"/>
              </a:rPr>
              <a:t>Monte Carlo Cash-Flow
Simulation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03720" y="2843784"/>
            <a:ext cx="1143000" cy="29260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>
            <a:spAutoFit/>
          </a:bodyPr>
          <a:lstStyle/>
          <a:p>
            <a:pPr algn="l"/>
            <a:r>
              <a:rPr sz="640" b="0">
                <a:solidFill>
                  <a:srgbClr val="000000"/>
                </a:solidFill>
                <a:latin typeface="Arial"/>
              </a:rPr>
              <a:t>Forecast future cash position
with confidence bands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03720" y="3300984"/>
            <a:ext cx="1143000" cy="25603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>
            <a:spAutoFit/>
          </a:bodyPr>
          <a:lstStyle/>
          <a:p>
            <a:pPr algn="l"/>
            <a:r>
              <a:rPr sz="700" b="1">
                <a:solidFill>
                  <a:srgbClr val="000000"/>
                </a:solidFill>
                <a:latin typeface="Arial"/>
              </a:rPr>
              <a:t>Shortfall Detection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03720" y="3547872"/>
            <a:ext cx="1143000" cy="29260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>
            <a:spAutoFit/>
          </a:bodyPr>
          <a:lstStyle/>
          <a:p>
            <a:pPr algn="l"/>
            <a:r>
              <a:rPr sz="640" b="0">
                <a:solidFill>
                  <a:srgbClr val="000000"/>
                </a:solidFill>
                <a:latin typeface="Arial"/>
              </a:rPr>
              <a:t>Identify when cash will run short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94192" y="1572768"/>
            <a:ext cx="1856231" cy="25603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>
            <a:spAutoFit/>
          </a:bodyPr>
          <a:lstStyle/>
          <a:p>
            <a:pPr algn="ctr"/>
            <a:r>
              <a:rPr sz="1019" b="1">
                <a:solidFill>
                  <a:srgbClr val="000000"/>
                </a:solidFill>
                <a:latin typeface="Arial"/>
              </a:rPr>
              <a:t>Action Optimization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897112" y="1901952"/>
            <a:ext cx="1069848" cy="24688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>
            <a:spAutoFit/>
          </a:bodyPr>
          <a:lstStyle/>
          <a:p>
            <a:pPr algn="l"/>
            <a:r>
              <a:rPr sz="700" b="1">
                <a:solidFill>
                  <a:srgbClr val="000000"/>
                </a:solidFill>
                <a:latin typeface="Arial"/>
              </a:rPr>
              <a:t>Recommend Next Best Action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897112" y="2130552"/>
            <a:ext cx="1078992" cy="4389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>
            <a:spAutoFit/>
          </a:bodyPr>
          <a:lstStyle/>
          <a:p>
            <a:pPr algn="l"/>
            <a:r>
              <a:rPr sz="635" b="0">
                <a:solidFill>
                  <a:srgbClr val="000000"/>
                </a:solidFill>
                <a:latin typeface="Arial"/>
              </a:rPr>
              <a:t>(Value × Probability × Urgency)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897112" y="2551176"/>
            <a:ext cx="1069848" cy="24688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>
            <a:spAutoFit/>
          </a:bodyPr>
          <a:lstStyle/>
          <a:p>
            <a:pPr algn="l"/>
            <a:r>
              <a:rPr sz="700" b="1">
                <a:solidFill>
                  <a:srgbClr val="000000"/>
                </a:solidFill>
                <a:latin typeface="Arial"/>
              </a:rPr>
              <a:t>Options: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897112" y="2779776"/>
            <a:ext cx="1078992" cy="4389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>
            <a:spAutoFit/>
          </a:bodyPr>
          <a:lstStyle/>
          <a:p>
            <a:pPr algn="l"/>
            <a:r>
              <a:rPr sz="635" b="0">
                <a:solidFill>
                  <a:srgbClr val="000000"/>
                </a:solidFill>
                <a:latin typeface="Arial"/>
              </a:rPr>
              <a:t>• Chase invoice (AR)
• Delay payment (AP)
• Draw pre-qualified credit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897112" y="3401568"/>
            <a:ext cx="1069848" cy="24688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>
            <a:spAutoFit/>
          </a:bodyPr>
          <a:lstStyle/>
          <a:p>
            <a:pPr algn="l"/>
            <a:r>
              <a:rPr sz="700" b="1">
                <a:solidFill>
                  <a:srgbClr val="000000"/>
                </a:solidFill>
                <a:latin typeface="Arial"/>
              </a:rPr>
              <a:t>Generate Draft Message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897112" y="3630168"/>
            <a:ext cx="1078992" cy="4389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>
            <a:spAutoFit/>
          </a:bodyPr>
          <a:lstStyle/>
          <a:p>
            <a:pPr algn="l"/>
            <a:r>
              <a:rPr sz="635" b="0">
                <a:solidFill>
                  <a:srgbClr val="000000"/>
                </a:solidFill>
                <a:latin typeface="Arial"/>
              </a:rPr>
              <a:t>(WhatsApp / Email / SMS)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360152" y="1572768"/>
            <a:ext cx="1591056" cy="25603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>
            <a:spAutoFit/>
          </a:bodyPr>
          <a:lstStyle/>
          <a:p>
            <a:pPr algn="ctr"/>
            <a:r>
              <a:rPr sz="1019" b="1">
                <a:solidFill>
                  <a:srgbClr val="000000"/>
                </a:solidFill>
                <a:latin typeface="Arial"/>
              </a:rPr>
              <a:t>User Interfaces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844784" y="190195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>
            <a:spAutoFit/>
          </a:bodyPr>
          <a:lstStyle/>
          <a:p>
            <a:pPr algn="l"/>
            <a:r>
              <a:rPr sz="700" b="1">
                <a:solidFill>
                  <a:srgbClr val="000000"/>
                </a:solidFill>
                <a:latin typeface="Arial"/>
              </a:rPr>
              <a:t>Mobile App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844784" y="2103120"/>
            <a:ext cx="822960" cy="16459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>
            <a:spAutoFit/>
          </a:bodyPr>
          <a:lstStyle/>
          <a:p>
            <a:pPr algn="l"/>
            <a:r>
              <a:rPr sz="610" b="0">
                <a:solidFill>
                  <a:srgbClr val="000000"/>
                </a:solidFill>
                <a:latin typeface="Arial"/>
              </a:rPr>
              <a:t>(MSME Owner)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844784" y="2505456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>
            <a:spAutoFit/>
          </a:bodyPr>
          <a:lstStyle/>
          <a:p>
            <a:pPr algn="l"/>
            <a:r>
              <a:rPr sz="700" b="1">
                <a:solidFill>
                  <a:srgbClr val="000000"/>
                </a:solidFill>
                <a:latin typeface="Arial"/>
              </a:rPr>
              <a:t>Web Dashboard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844784" y="2706624"/>
            <a:ext cx="822960" cy="16459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>
            <a:spAutoFit/>
          </a:bodyPr>
          <a:lstStyle/>
          <a:p>
            <a:pPr algn="l"/>
            <a:r>
              <a:rPr sz="610" b="0">
                <a:solidFill>
                  <a:srgbClr val="000000"/>
                </a:solidFill>
                <a:latin typeface="Arial"/>
              </a:rPr>
              <a:t>(Detailed View)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844784" y="3108960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>
            <a:spAutoFit/>
          </a:bodyPr>
          <a:lstStyle/>
          <a:p>
            <a:pPr algn="l"/>
            <a:r>
              <a:rPr sz="700" b="1">
                <a:solidFill>
                  <a:srgbClr val="000000"/>
                </a:solidFill>
                <a:latin typeface="Arial"/>
              </a:rPr>
              <a:t>WhatsApp Bot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844784" y="3310128"/>
            <a:ext cx="822960" cy="16459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>
            <a:spAutoFit/>
          </a:bodyPr>
          <a:lstStyle/>
          <a:p>
            <a:pPr algn="l"/>
            <a:r>
              <a:rPr sz="610" b="0">
                <a:solidFill>
                  <a:srgbClr val="000000"/>
                </a:solidFill>
                <a:latin typeface="Arial"/>
              </a:rPr>
              <a:t>(Quick Add &amp; Alerts)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844784" y="3712463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>
            <a:spAutoFit/>
          </a:bodyPr>
          <a:lstStyle/>
          <a:p>
            <a:pPr algn="l"/>
            <a:r>
              <a:rPr sz="700" b="1">
                <a:solidFill>
                  <a:srgbClr val="000000"/>
                </a:solidFill>
                <a:latin typeface="Arial"/>
              </a:rPr>
              <a:t>Trusted Sharing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844784" y="3913631"/>
            <a:ext cx="822960" cy="16459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>
            <a:spAutoFit/>
          </a:bodyPr>
          <a:lstStyle/>
          <a:p>
            <a:pPr algn="l"/>
            <a:r>
              <a:rPr sz="610" b="0">
                <a:solidFill>
                  <a:srgbClr val="000000"/>
                </a:solidFill>
                <a:latin typeface="Arial"/>
              </a:rPr>
              <a:t>(Owner / Accountant)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074920" y="4443984"/>
            <a:ext cx="5669280" cy="16459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000000"/>
                </a:solidFill>
                <a:latin typeface="Arial"/>
              </a:rPr>
              <a:t>Continuous Learning &amp; Model Improvement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367528" y="4654296"/>
            <a:ext cx="1691640" cy="2286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>
            <a:spAutoFit/>
          </a:bodyPr>
          <a:lstStyle/>
          <a:p>
            <a:pPr algn="l"/>
            <a:r>
              <a:rPr sz="720" b="0">
                <a:solidFill>
                  <a:srgbClr val="000000"/>
                </a:solidFill>
                <a:latin typeface="Arial"/>
              </a:rPr>
              <a:t>Ingest Actual Payment Outcomes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461504" y="4654296"/>
            <a:ext cx="1554480" cy="2286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>
            <a:spAutoFit/>
          </a:bodyPr>
          <a:lstStyle/>
          <a:p>
            <a:pPr algn="l"/>
            <a:r>
              <a:rPr sz="720" b="0">
                <a:solidFill>
                  <a:srgbClr val="000000"/>
                </a:solidFill>
                <a:latin typeface="Arial"/>
              </a:rPr>
              <a:t>Retrain Models Periodically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326880" y="4654296"/>
            <a:ext cx="1554480" cy="2286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>
            <a:spAutoFit/>
          </a:bodyPr>
          <a:lstStyle/>
          <a:p>
            <a:pPr algn="l"/>
            <a:r>
              <a:rPr sz="720" b="0">
                <a:solidFill>
                  <a:srgbClr val="000000"/>
                </a:solidFill>
                <a:latin typeface="Arial"/>
              </a:rPr>
              <a:t>Improve Recommendations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310128" y="5157216"/>
            <a:ext cx="2834640" cy="2286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0000"/>
                </a:solidFill>
                <a:latin typeface="Arial"/>
              </a:rPr>
              <a:t>Key Features (Technically):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703320" y="5559552"/>
            <a:ext cx="1060704" cy="27432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>
            <a:spAutoFit/>
          </a:bodyPr>
          <a:lstStyle/>
          <a:p>
            <a:pPr algn="l"/>
            <a:r>
              <a:rPr sz="720" b="1">
                <a:solidFill>
                  <a:srgbClr val="000000"/>
                </a:solidFill>
                <a:latin typeface="Arial"/>
              </a:rPr>
              <a:t>Per-Invoice
Risk Prediction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703320" y="5833872"/>
            <a:ext cx="1060704" cy="33832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>
            <a:spAutoFit/>
          </a:bodyPr>
          <a:lstStyle/>
          <a:p>
            <a:pPr algn="l"/>
            <a:r>
              <a:rPr sz="610" b="0">
                <a:solidFill>
                  <a:srgbClr val="000000"/>
                </a:solidFill>
                <a:latin typeface="Arial"/>
              </a:rPr>
              <a:t>Probability curves, not just
late/on-time labels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321807" y="5559552"/>
            <a:ext cx="1060704" cy="27432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>
            <a:spAutoFit/>
          </a:bodyPr>
          <a:lstStyle/>
          <a:p>
            <a:pPr algn="l"/>
            <a:r>
              <a:rPr sz="720" b="1">
                <a:solidFill>
                  <a:srgbClr val="000000"/>
                </a:solidFill>
                <a:latin typeface="Arial"/>
              </a:rPr>
              <a:t>Monte Carlo
Cash-Flow Forecast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321807" y="5833872"/>
            <a:ext cx="1060704" cy="33832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>
            <a:spAutoFit/>
          </a:bodyPr>
          <a:lstStyle/>
          <a:p>
            <a:pPr algn="l"/>
            <a:r>
              <a:rPr sz="610" b="0">
                <a:solidFill>
                  <a:srgbClr val="000000"/>
                </a:solidFill>
                <a:latin typeface="Arial"/>
              </a:rPr>
              <a:t>Confidence bands,
not a single number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949440" y="5559552"/>
            <a:ext cx="1060704" cy="27432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>
            <a:spAutoFit/>
          </a:bodyPr>
          <a:lstStyle/>
          <a:p>
            <a:pPr algn="l"/>
            <a:r>
              <a:rPr sz="720" b="1">
                <a:solidFill>
                  <a:srgbClr val="000000"/>
                </a:solidFill>
                <a:latin typeface="Arial"/>
              </a:rPr>
              <a:t>Optimized Action Engine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949440" y="5833872"/>
            <a:ext cx="1060704" cy="33832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>
            <a:spAutoFit/>
          </a:bodyPr>
          <a:lstStyle/>
          <a:p>
            <a:pPr algn="l"/>
            <a:r>
              <a:rPr sz="610" b="0">
                <a:solidFill>
                  <a:srgbClr val="000000"/>
                </a:solidFill>
                <a:latin typeface="Arial"/>
              </a:rPr>
              <a:t>Ranks actions to close
the cash gap with constraints
(e.g., payment terms, credit limits)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851392" y="5559552"/>
            <a:ext cx="1060704" cy="27432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>
            <a:spAutoFit/>
          </a:bodyPr>
          <a:lstStyle/>
          <a:p>
            <a:pPr algn="l"/>
            <a:r>
              <a:rPr sz="720" b="1">
                <a:solidFill>
                  <a:srgbClr val="000000"/>
                </a:solidFill>
                <a:latin typeface="Arial"/>
              </a:rPr>
              <a:t>Automated Outreach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851392" y="5833872"/>
            <a:ext cx="1060704" cy="33832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>
            <a:spAutoFit/>
          </a:bodyPr>
          <a:lstStyle/>
          <a:p>
            <a:pPr algn="l"/>
            <a:r>
              <a:rPr sz="610" b="0">
                <a:solidFill>
                  <a:srgbClr val="000000"/>
                </a:solidFill>
                <a:latin typeface="Arial"/>
              </a:rPr>
              <a:t>Pre-filled, personalized
WhatsApp/SMS/Email
drafts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588752" y="5559552"/>
            <a:ext cx="1060704" cy="27432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>
            <a:spAutoFit/>
          </a:bodyPr>
          <a:lstStyle/>
          <a:p>
            <a:pPr algn="l"/>
            <a:r>
              <a:rPr sz="720" b="1">
                <a:solidFill>
                  <a:srgbClr val="000000"/>
                </a:solidFill>
                <a:latin typeface="Arial"/>
              </a:rPr>
              <a:t>Explainability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588752" y="5833872"/>
            <a:ext cx="1060704" cy="33832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>
            <a:spAutoFit/>
          </a:bodyPr>
          <a:lstStyle/>
          <a:p>
            <a:pPr algn="l"/>
            <a:r>
              <a:rPr sz="610" b="0">
                <a:solidFill>
                  <a:srgbClr val="000000"/>
                </a:solidFill>
                <a:latin typeface="Arial"/>
              </a:rPr>
              <a:t>Why a risk flag? Transparent
reasons and key factors for
every recommendation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547872" y="6565392"/>
            <a:ext cx="1600200" cy="16459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000000"/>
                </a:solidFill>
                <a:latin typeface="Arial"/>
              </a:rPr>
              <a:t>CRAFTVERSE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074920" y="6565392"/>
            <a:ext cx="3611880" cy="16459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>
            <a:spAutoFit/>
          </a:bodyPr>
          <a:lstStyle/>
          <a:p>
            <a:pPr algn="ctr"/>
            <a:r>
              <a:rPr sz="860" b="0">
                <a:solidFill>
                  <a:srgbClr val="000000"/>
                </a:solidFill>
                <a:latin typeface="Arial"/>
              </a:rPr>
              <a:t>—  A NATIONAL LEVEL HACKATHON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